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4630400" cy="8229600"/>
  <p:notesSz cx="8229600" cy="14630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5" d="100"/>
          <a:sy n="65" d="100"/>
        </p:scale>
        <p:origin x="830"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35905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_SLIDE">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514600"/>
          </a:xfrm>
          <a:prstGeom prst="rect">
            <a:avLst/>
          </a:prstGeom>
        </p:spPr>
      </p:pic>
      <p:sp>
        <p:nvSpPr>
          <p:cNvPr id="4" name="Text 0"/>
          <p:cNvSpPr/>
          <p:nvPr/>
        </p:nvSpPr>
        <p:spPr>
          <a:xfrm>
            <a:off x="685800" y="3739896"/>
            <a:ext cx="13267944" cy="1819656"/>
          </a:xfrm>
          <a:prstGeom prst="rect">
            <a:avLst/>
          </a:prstGeom>
          <a:noFill/>
          <a:ln/>
        </p:spPr>
        <p:txBody>
          <a:bodyPr wrap="square" lIns="0" tIns="0" rIns="0" bIns="0" rtlCol="0" anchor="ctr"/>
          <a:lstStyle/>
          <a:p>
            <a:pPr marL="0" indent="0" algn="l">
              <a:lnSpc>
                <a:spcPts val="7150"/>
              </a:lnSpc>
              <a:buNone/>
            </a:pPr>
            <a:r>
              <a:rPr lang="en-US" sz="5290" dirty="0">
                <a:solidFill>
                  <a:srgbClr val="54654B"/>
                </a:solidFill>
                <a:latin typeface="思源黑体-思源黑体-Medium" pitchFamily="34" charset="0"/>
                <a:ea typeface="思源黑体-思源黑体-Medium" pitchFamily="34" charset="-122"/>
                <a:cs typeface="思源黑体-思源黑体-Medium" pitchFamily="34" charset="-120"/>
              </a:rPr>
              <a:t>Innovative Navigation System for University Websites</a:t>
            </a:r>
            <a:endParaRPr lang="en-US" sz="5290" dirty="0"/>
          </a:p>
        </p:txBody>
      </p:sp>
      <p:sp>
        <p:nvSpPr>
          <p:cNvPr id="5" name="Text 1"/>
          <p:cNvSpPr/>
          <p:nvPr/>
        </p:nvSpPr>
        <p:spPr>
          <a:xfrm>
            <a:off x="685800" y="5779008"/>
            <a:ext cx="13267944" cy="822960"/>
          </a:xfrm>
          <a:prstGeom prst="rect">
            <a:avLst/>
          </a:prstGeom>
          <a:noFill/>
          <a:ln/>
        </p:spPr>
        <p:txBody>
          <a:bodyPr wrap="square" lIns="0" tIns="0" rIns="0" bIns="0" rtlCol="0" anchor="ctr"/>
          <a:lstStyle/>
          <a:p>
            <a:pPr marL="0" indent="0" algn="l">
              <a:lnSpc>
                <a:spcPts val="2150"/>
              </a:lnSpc>
              <a:buNone/>
            </a:pPr>
            <a:r>
              <a:rPr lang="en-US" sz="1530" dirty="0">
                <a:solidFill>
                  <a:srgbClr val="3B562E"/>
                </a:solidFill>
                <a:latin typeface="思源黑体-思源黑体-Medium" pitchFamily="34" charset="0"/>
                <a:ea typeface="思源黑体-思源黑体-Medium" pitchFamily="34" charset="-122"/>
                <a:cs typeface="思源黑体-思源黑体-Medium" pitchFamily="34" charset="-120"/>
              </a:rPr>
              <a:t>This presentation showcases a pioneering navigation system designed for university websites to enhance student access to essential academic resources. By optimizing the user experience, it enables students to swiftly find crucial information, ultimately promoting greater academic engagement and success.</a:t>
            </a:r>
            <a:endParaRPr lang="en-US" sz="153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8238744"/>
          </a:xfrm>
          <a:prstGeom prst="rect">
            <a:avLst/>
          </a:prstGeom>
        </p:spPr>
      </p:pic>
      <p:sp>
        <p:nvSpPr>
          <p:cNvPr id="4" name="Text 0"/>
          <p:cNvSpPr/>
          <p:nvPr/>
        </p:nvSpPr>
        <p:spPr>
          <a:xfrm>
            <a:off x="685800" y="1207008"/>
            <a:ext cx="13267944" cy="658368"/>
          </a:xfrm>
          <a:prstGeom prst="rect">
            <a:avLst/>
          </a:prstGeom>
          <a:noFill/>
          <a:ln/>
        </p:spPr>
        <p:txBody>
          <a:bodyPr wrap="none" lIns="0" tIns="0" rIns="0" bIns="0" rtlCol="0" anchor="ctr"/>
          <a:lstStyle/>
          <a:p>
            <a:pPr marL="0" indent="0" algn="l">
              <a:lnSpc>
                <a:spcPts val="5180"/>
              </a:lnSpc>
              <a:buNone/>
            </a:pPr>
            <a:r>
              <a:rPr lang="en-US" sz="3840" dirty="0">
                <a:solidFill>
                  <a:srgbClr val="54654B"/>
                </a:solidFill>
                <a:latin typeface="思源黑体-思源黑体-Medium" pitchFamily="34" charset="0"/>
                <a:ea typeface="思源黑体-思源黑体-Medium" pitchFamily="34" charset="-122"/>
                <a:cs typeface="思源黑体-思源黑体-Medium" pitchFamily="34" charset="-120"/>
              </a:rPr>
              <a:t>Current Navigation Challenges</a:t>
            </a:r>
            <a:endParaRPr lang="en-US" sz="3840" dirty="0"/>
          </a:p>
        </p:txBody>
      </p:sp>
      <p:sp>
        <p:nvSpPr>
          <p:cNvPr id="5" name="Text 1"/>
          <p:cNvSpPr/>
          <p:nvPr/>
        </p:nvSpPr>
        <p:spPr>
          <a:xfrm>
            <a:off x="704088" y="2295144"/>
            <a:ext cx="6327648" cy="2185416"/>
          </a:xfrm>
          <a:prstGeom prst="rect">
            <a:avLst/>
          </a:prstGeom>
          <a:noFill/>
          <a:ln/>
        </p:spPr>
        <p:txBody>
          <a:bodyPr wrap="square" lIns="0" tIns="0" rIns="0" bIns="0" rtlCol="0" anchor="ctr"/>
          <a:lstStyle/>
          <a:p>
            <a:pPr marL="0" indent="0" algn="l">
              <a:lnSpc>
                <a:spcPts val="2150"/>
              </a:lnSpc>
              <a:buNone/>
            </a:pPr>
            <a:r>
              <a:rPr lang="en-US" sz="1530" dirty="0">
                <a:solidFill>
                  <a:srgbClr val="3B562E"/>
                </a:solidFill>
                <a:latin typeface="思源黑体-思源黑体-Medium" pitchFamily="34" charset="0"/>
                <a:ea typeface="思源黑体-思源黑体-Medium" pitchFamily="34" charset="-122"/>
                <a:cs typeface="思源黑体-思源黑体-Medium" pitchFamily="34" charset="-120"/>
              </a:rPr>
              <a:t>University websites face significant navigation challenges, affecting students' ability to access essential information. Complexity in existing systems often leaves users feeling lost, with a reported average search time of 10 minutes for basic details. Moreover, inconsistencies across department navigation styles create confusion, further diminishing user satisfaction. Lastly, inadequate mobile optimization contributes to frustrating experiences for users reliant on mobile devices for information.</a:t>
            </a:r>
            <a:endParaRPr lang="en-US" sz="1530" dirty="0"/>
          </a:p>
        </p:txBody>
      </p:sp>
      <p:sp>
        <p:nvSpPr>
          <p:cNvPr id="6" name="Text 2"/>
          <p:cNvSpPr/>
          <p:nvPr/>
        </p:nvSpPr>
        <p:spPr>
          <a:xfrm>
            <a:off x="7818120" y="2505456"/>
            <a:ext cx="5907024" cy="329184"/>
          </a:xfrm>
          <a:prstGeom prst="rect">
            <a:avLst/>
          </a:prstGeom>
          <a:noFill/>
          <a:ln/>
        </p:spPr>
        <p:txBody>
          <a:bodyPr wrap="none" lIns="0" tIns="0" rIns="0" bIns="0" rtlCol="0" anchor="ctr"/>
          <a:lstStyle/>
          <a:p>
            <a:pPr marL="0" indent="0" algn="l">
              <a:lnSpc>
                <a:spcPts val="2590"/>
              </a:lnSpc>
              <a:buNone/>
            </a:pPr>
            <a:r>
              <a:rPr lang="en-US" sz="1920" dirty="0">
                <a:solidFill>
                  <a:srgbClr val="3B562E"/>
                </a:solidFill>
                <a:latin typeface="思源黑体-思源黑体-Medium" pitchFamily="34" charset="0"/>
                <a:ea typeface="思源黑体-思源黑体-Medium" pitchFamily="34" charset="-122"/>
                <a:cs typeface="思源黑体-思源黑体-Medium" pitchFamily="34" charset="-120"/>
              </a:rPr>
              <a:t>Complexity of Existing Systems</a:t>
            </a:r>
            <a:endParaRPr lang="en-US" sz="1920" dirty="0"/>
          </a:p>
        </p:txBody>
      </p:sp>
      <p:sp>
        <p:nvSpPr>
          <p:cNvPr id="7" name="Text 3"/>
          <p:cNvSpPr/>
          <p:nvPr/>
        </p:nvSpPr>
        <p:spPr>
          <a:xfrm>
            <a:off x="7818120" y="3008376"/>
            <a:ext cx="5907024" cy="548640"/>
          </a:xfrm>
          <a:prstGeom prst="rect">
            <a:avLst/>
          </a:prstGeom>
          <a:noFill/>
          <a:ln/>
        </p:spPr>
        <p:txBody>
          <a:bodyPr wrap="square" lIns="0" tIns="0" rIns="0" bIns="0" rtlCol="0" anchor="ctr"/>
          <a:lstStyle/>
          <a:p>
            <a:pPr marL="0" indent="0" algn="l">
              <a:lnSpc>
                <a:spcPts val="2150"/>
              </a:lnSpc>
              <a:buNone/>
            </a:pPr>
            <a:r>
              <a:rPr lang="en-US" sz="1530" dirty="0">
                <a:solidFill>
                  <a:srgbClr val="3B562E"/>
                </a:solidFill>
                <a:latin typeface="思源黑体-思源黑体-Medium" pitchFamily="34" charset="0"/>
                <a:ea typeface="思源黑体-思源黑体-Medium" pitchFamily="34" charset="-122"/>
                <a:cs typeface="思源黑体-思源黑体-Medium" pitchFamily="34" charset="-120"/>
              </a:rPr>
              <a:t>Outdated layouts complicate information access, causing frustration.</a:t>
            </a:r>
            <a:endParaRPr lang="en-US" sz="1530" dirty="0"/>
          </a:p>
        </p:txBody>
      </p:sp>
      <p:sp>
        <p:nvSpPr>
          <p:cNvPr id="8" name="Text 4"/>
          <p:cNvSpPr/>
          <p:nvPr/>
        </p:nvSpPr>
        <p:spPr>
          <a:xfrm>
            <a:off x="7818120" y="4169664"/>
            <a:ext cx="5907024" cy="329184"/>
          </a:xfrm>
          <a:prstGeom prst="rect">
            <a:avLst/>
          </a:prstGeom>
          <a:noFill/>
          <a:ln/>
        </p:spPr>
        <p:txBody>
          <a:bodyPr wrap="none" lIns="0" tIns="0" rIns="0" bIns="0" rtlCol="0" anchor="ctr"/>
          <a:lstStyle/>
          <a:p>
            <a:pPr marL="0" indent="0" algn="l">
              <a:lnSpc>
                <a:spcPts val="2590"/>
              </a:lnSpc>
              <a:buNone/>
            </a:pPr>
            <a:r>
              <a:rPr lang="en-US" sz="1920" dirty="0">
                <a:solidFill>
                  <a:srgbClr val="3B562E"/>
                </a:solidFill>
                <a:latin typeface="思源黑体-思源黑体-Medium" pitchFamily="34" charset="0"/>
                <a:ea typeface="思源黑体-思源黑体-Medium" pitchFamily="34" charset="-122"/>
                <a:cs typeface="思源黑体-思源黑体-Medium" pitchFamily="34" charset="-120"/>
              </a:rPr>
              <a:t>Inconsistent User Experience</a:t>
            </a:r>
            <a:endParaRPr lang="en-US" sz="1920" dirty="0"/>
          </a:p>
        </p:txBody>
      </p:sp>
      <p:sp>
        <p:nvSpPr>
          <p:cNvPr id="9" name="Text 5"/>
          <p:cNvSpPr/>
          <p:nvPr/>
        </p:nvSpPr>
        <p:spPr>
          <a:xfrm>
            <a:off x="7818120" y="4672584"/>
            <a:ext cx="5907024" cy="274320"/>
          </a:xfrm>
          <a:prstGeom prst="rect">
            <a:avLst/>
          </a:prstGeom>
          <a:noFill/>
          <a:ln/>
        </p:spPr>
        <p:txBody>
          <a:bodyPr wrap="none" lIns="0" tIns="0" rIns="0" bIns="0" rtlCol="0" anchor="ctr"/>
          <a:lstStyle/>
          <a:p>
            <a:pPr marL="0" indent="0" algn="l">
              <a:lnSpc>
                <a:spcPts val="2150"/>
              </a:lnSpc>
              <a:buNone/>
            </a:pPr>
            <a:r>
              <a:rPr lang="en-US" sz="1530" dirty="0">
                <a:solidFill>
                  <a:srgbClr val="3B562E"/>
                </a:solidFill>
                <a:latin typeface="思源黑体-思源黑体-Medium" pitchFamily="34" charset="0"/>
                <a:ea typeface="思源黑体-思源黑体-Medium" pitchFamily="34" charset="-122"/>
                <a:cs typeface="思源黑体-思源黑体-Medium" pitchFamily="34" charset="-120"/>
              </a:rPr>
              <a:t>Varying navigation styles confuse users and lower satisfaction.</a:t>
            </a:r>
            <a:endParaRPr lang="en-US" sz="1530" dirty="0"/>
          </a:p>
        </p:txBody>
      </p:sp>
      <p:sp>
        <p:nvSpPr>
          <p:cNvPr id="10" name="Text 6"/>
          <p:cNvSpPr/>
          <p:nvPr/>
        </p:nvSpPr>
        <p:spPr>
          <a:xfrm>
            <a:off x="7818120" y="5559552"/>
            <a:ext cx="5907024" cy="329184"/>
          </a:xfrm>
          <a:prstGeom prst="rect">
            <a:avLst/>
          </a:prstGeom>
          <a:noFill/>
          <a:ln/>
        </p:spPr>
        <p:txBody>
          <a:bodyPr wrap="none" lIns="0" tIns="0" rIns="0" bIns="0" rtlCol="0" anchor="ctr"/>
          <a:lstStyle/>
          <a:p>
            <a:pPr marL="0" indent="0" algn="l">
              <a:lnSpc>
                <a:spcPts val="2590"/>
              </a:lnSpc>
              <a:buNone/>
            </a:pPr>
            <a:r>
              <a:rPr lang="en-US" sz="1920" dirty="0">
                <a:solidFill>
                  <a:srgbClr val="3B562E"/>
                </a:solidFill>
                <a:latin typeface="思源黑体-思源黑体-Medium" pitchFamily="34" charset="0"/>
                <a:ea typeface="思源黑体-思源黑体-Medium" pitchFamily="34" charset="-122"/>
                <a:cs typeface="思源黑体-思源黑体-Medium" pitchFamily="34" charset="-120"/>
              </a:rPr>
              <a:t>Limited Mobile Optimization</a:t>
            </a:r>
            <a:endParaRPr lang="en-US" sz="1920" dirty="0"/>
          </a:p>
        </p:txBody>
      </p:sp>
      <p:sp>
        <p:nvSpPr>
          <p:cNvPr id="11" name="Text 7"/>
          <p:cNvSpPr/>
          <p:nvPr/>
        </p:nvSpPr>
        <p:spPr>
          <a:xfrm>
            <a:off x="7818120" y="6071616"/>
            <a:ext cx="5907024" cy="548640"/>
          </a:xfrm>
          <a:prstGeom prst="rect">
            <a:avLst/>
          </a:prstGeom>
          <a:noFill/>
          <a:ln/>
        </p:spPr>
        <p:txBody>
          <a:bodyPr wrap="square" lIns="0" tIns="0" rIns="0" bIns="0" rtlCol="0" anchor="ctr"/>
          <a:lstStyle/>
          <a:p>
            <a:pPr marL="0" indent="0" algn="l">
              <a:lnSpc>
                <a:spcPts val="2150"/>
              </a:lnSpc>
              <a:buNone/>
            </a:pPr>
            <a:r>
              <a:rPr lang="en-US" sz="1530" dirty="0">
                <a:solidFill>
                  <a:srgbClr val="3B562E"/>
                </a:solidFill>
                <a:latin typeface="思源黑体-思源黑体-Medium" pitchFamily="34" charset="0"/>
                <a:ea typeface="思源黑体-思源黑体-Medium" pitchFamily="34" charset="-122"/>
                <a:cs typeface="思源黑体-思源黑体-Medium" pitchFamily="34" charset="-120"/>
              </a:rPr>
              <a:t>Poor mobile design frustrates users accessing sites via smartphones.</a:t>
            </a:r>
            <a:endParaRPr lang="en-US" sz="153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5001768" y="2240280"/>
            <a:ext cx="4645152" cy="4645152"/>
          </a:xfrm>
          <a:prstGeom prst="rect">
            <a:avLst/>
          </a:prstGeom>
        </p:spPr>
      </p:pic>
      <p:pic>
        <p:nvPicPr>
          <p:cNvPr id="4" name="Image 2" descr="preencoded.png"/>
          <p:cNvPicPr>
            <a:picLocks noChangeAspect="1"/>
          </p:cNvPicPr>
          <p:nvPr/>
        </p:nvPicPr>
        <p:blipFill>
          <a:blip r:embed="rId5"/>
          <a:stretch>
            <a:fillRect/>
          </a:stretch>
        </p:blipFill>
        <p:spPr>
          <a:xfrm>
            <a:off x="5001768" y="2240280"/>
            <a:ext cx="4645152" cy="4645152"/>
          </a:xfrm>
          <a:prstGeom prst="rect">
            <a:avLst/>
          </a:prstGeom>
        </p:spPr>
      </p:pic>
      <p:pic>
        <p:nvPicPr>
          <p:cNvPr id="5" name="Image 3" descr="preencoded.png"/>
          <p:cNvPicPr>
            <a:picLocks noChangeAspect="1"/>
          </p:cNvPicPr>
          <p:nvPr/>
        </p:nvPicPr>
        <p:blipFill>
          <a:blip r:embed="rId6"/>
          <a:stretch>
            <a:fillRect/>
          </a:stretch>
        </p:blipFill>
        <p:spPr>
          <a:xfrm>
            <a:off x="5001768" y="2240280"/>
            <a:ext cx="4645152" cy="4645152"/>
          </a:xfrm>
          <a:prstGeom prst="rect">
            <a:avLst/>
          </a:prstGeom>
        </p:spPr>
      </p:pic>
      <p:sp>
        <p:nvSpPr>
          <p:cNvPr id="6" name="Text 0"/>
          <p:cNvSpPr/>
          <p:nvPr/>
        </p:nvSpPr>
        <p:spPr>
          <a:xfrm>
            <a:off x="685800" y="1362456"/>
            <a:ext cx="13267944" cy="658368"/>
          </a:xfrm>
          <a:prstGeom prst="rect">
            <a:avLst/>
          </a:prstGeom>
          <a:noFill/>
          <a:ln/>
        </p:spPr>
        <p:txBody>
          <a:bodyPr wrap="none" lIns="0" tIns="0" rIns="0" bIns="0" rtlCol="0" anchor="ctr"/>
          <a:lstStyle/>
          <a:p>
            <a:pPr marL="0" indent="0" algn="l">
              <a:lnSpc>
                <a:spcPts val="5180"/>
              </a:lnSpc>
              <a:buNone/>
            </a:pPr>
            <a:r>
              <a:rPr lang="en-US" sz="3840" dirty="0">
                <a:solidFill>
                  <a:srgbClr val="54654B"/>
                </a:solidFill>
                <a:latin typeface="思源黑体-思源黑体-Medium" pitchFamily="34" charset="0"/>
                <a:ea typeface="思源黑体-思源黑体-Medium" pitchFamily="34" charset="-122"/>
                <a:cs typeface="思源黑体-思源黑体-Medium" pitchFamily="34" charset="-120"/>
              </a:rPr>
              <a:t>Proposed Navigation Features</a:t>
            </a:r>
            <a:endParaRPr lang="en-US" sz="3840" dirty="0"/>
          </a:p>
        </p:txBody>
      </p:sp>
      <p:sp>
        <p:nvSpPr>
          <p:cNvPr id="7" name="Text 1"/>
          <p:cNvSpPr/>
          <p:nvPr/>
        </p:nvSpPr>
        <p:spPr>
          <a:xfrm>
            <a:off x="786384" y="4014216"/>
            <a:ext cx="3538728" cy="329184"/>
          </a:xfrm>
          <a:prstGeom prst="rect">
            <a:avLst/>
          </a:prstGeom>
          <a:noFill/>
          <a:ln/>
        </p:spPr>
        <p:txBody>
          <a:bodyPr wrap="none" lIns="0" tIns="0" rIns="0" bIns="0" rtlCol="0" anchor="ctr"/>
          <a:lstStyle/>
          <a:p>
            <a:pPr marL="0" indent="0" algn="r">
              <a:lnSpc>
                <a:spcPts val="2590"/>
              </a:lnSpc>
              <a:buNone/>
            </a:pPr>
            <a:r>
              <a:rPr lang="en-US" sz="1920" dirty="0">
                <a:solidFill>
                  <a:srgbClr val="3B562E"/>
                </a:solidFill>
                <a:latin typeface="思源黑体-思源黑体-Medium" pitchFamily="34" charset="0"/>
                <a:ea typeface="思源黑体-思源黑体-Medium" pitchFamily="34" charset="-122"/>
                <a:cs typeface="思源黑体-思源黑体-Medium" pitchFamily="34" charset="-120"/>
              </a:rPr>
              <a:t>Intuitive Search Functionality</a:t>
            </a:r>
            <a:endParaRPr lang="en-US" sz="1920" dirty="0"/>
          </a:p>
        </p:txBody>
      </p:sp>
      <p:sp>
        <p:nvSpPr>
          <p:cNvPr id="8" name="Text 2"/>
          <p:cNvSpPr/>
          <p:nvPr/>
        </p:nvSpPr>
        <p:spPr>
          <a:xfrm>
            <a:off x="786384" y="4562856"/>
            <a:ext cx="3538728" cy="548640"/>
          </a:xfrm>
          <a:prstGeom prst="rect">
            <a:avLst/>
          </a:prstGeom>
          <a:noFill/>
          <a:ln/>
        </p:spPr>
        <p:txBody>
          <a:bodyPr wrap="square" lIns="0" tIns="0" rIns="0" bIns="0" rtlCol="0" anchor="ctr"/>
          <a:lstStyle/>
          <a:p>
            <a:pPr marL="0" indent="0" algn="r">
              <a:lnSpc>
                <a:spcPts val="2150"/>
              </a:lnSpc>
              <a:buNone/>
            </a:pPr>
            <a:r>
              <a:rPr lang="en-US" sz="1530" dirty="0">
                <a:solidFill>
                  <a:srgbClr val="3B562E"/>
                </a:solidFill>
                <a:latin typeface="思源黑体-思源黑体-Medium" pitchFamily="34" charset="0"/>
                <a:ea typeface="思源黑体-思源黑体-Medium" pitchFamily="34" charset="-122"/>
                <a:cs typeface="思源黑体-思源黑体-Medium" pitchFamily="34" charset="-120"/>
              </a:rPr>
              <a:t>A prominent search bar for typing keywords related to needs.</a:t>
            </a:r>
            <a:endParaRPr lang="en-US" sz="1530" dirty="0"/>
          </a:p>
        </p:txBody>
      </p:sp>
      <p:sp>
        <p:nvSpPr>
          <p:cNvPr id="9" name="Text 3"/>
          <p:cNvSpPr/>
          <p:nvPr/>
        </p:nvSpPr>
        <p:spPr>
          <a:xfrm>
            <a:off x="6053328" y="4379976"/>
            <a:ext cx="137160" cy="365760"/>
          </a:xfrm>
          <a:prstGeom prst="rect">
            <a:avLst/>
          </a:prstGeom>
          <a:noFill/>
          <a:ln/>
        </p:spPr>
        <p:txBody>
          <a:bodyPr wrap="none" lIns="0" tIns="0" rIns="0" bIns="0" rtlCol="0" anchor="ctr"/>
          <a:lstStyle/>
          <a:p>
            <a:pPr marL="0" indent="0" algn="l">
              <a:lnSpc>
                <a:spcPts val="2300"/>
              </a:lnSpc>
              <a:buNone/>
            </a:pPr>
            <a:r>
              <a:rPr lang="en-US" sz="1920" dirty="0">
                <a:solidFill>
                  <a:srgbClr val="242424"/>
                </a:solidFill>
                <a:latin typeface="思源黑体-思源黑体-Medium" pitchFamily="34" charset="0"/>
                <a:ea typeface="思源黑体-思源黑体-Medium" pitchFamily="34" charset="-122"/>
                <a:cs typeface="思源黑体-思源黑体-Medium" pitchFamily="34" charset="-120"/>
              </a:rPr>
              <a:t>1</a:t>
            </a:r>
            <a:endParaRPr lang="en-US" sz="1920" dirty="0"/>
          </a:p>
        </p:txBody>
      </p:sp>
      <p:sp>
        <p:nvSpPr>
          <p:cNvPr id="10" name="Text 4"/>
          <p:cNvSpPr/>
          <p:nvPr/>
        </p:nvSpPr>
        <p:spPr>
          <a:xfrm>
            <a:off x="7845552" y="3346704"/>
            <a:ext cx="137160" cy="365760"/>
          </a:xfrm>
          <a:prstGeom prst="rect">
            <a:avLst/>
          </a:prstGeom>
          <a:noFill/>
          <a:ln/>
        </p:spPr>
        <p:txBody>
          <a:bodyPr wrap="none" lIns="0" tIns="0" rIns="0" bIns="0" rtlCol="0" anchor="ctr"/>
          <a:lstStyle/>
          <a:p>
            <a:pPr marL="0" indent="0" algn="l">
              <a:lnSpc>
                <a:spcPts val="2300"/>
              </a:lnSpc>
              <a:buNone/>
            </a:pPr>
            <a:r>
              <a:rPr lang="en-US" sz="1920" dirty="0">
                <a:solidFill>
                  <a:srgbClr val="242424"/>
                </a:solidFill>
                <a:latin typeface="思源黑体-思源黑体-Medium" pitchFamily="34" charset="0"/>
                <a:ea typeface="思源黑体-思源黑体-Medium" pitchFamily="34" charset="-122"/>
                <a:cs typeface="思源黑体-思源黑体-Medium" pitchFamily="34" charset="-120"/>
              </a:rPr>
              <a:t>2</a:t>
            </a:r>
            <a:endParaRPr lang="en-US" sz="1920" dirty="0"/>
          </a:p>
        </p:txBody>
      </p:sp>
      <p:sp>
        <p:nvSpPr>
          <p:cNvPr id="11" name="Text 5"/>
          <p:cNvSpPr/>
          <p:nvPr/>
        </p:nvSpPr>
        <p:spPr>
          <a:xfrm>
            <a:off x="7845552" y="5413248"/>
            <a:ext cx="137160" cy="365760"/>
          </a:xfrm>
          <a:prstGeom prst="rect">
            <a:avLst/>
          </a:prstGeom>
          <a:noFill/>
          <a:ln/>
        </p:spPr>
        <p:txBody>
          <a:bodyPr wrap="none" lIns="0" tIns="0" rIns="0" bIns="0" rtlCol="0" anchor="ctr"/>
          <a:lstStyle/>
          <a:p>
            <a:pPr marL="0" indent="0" algn="l">
              <a:lnSpc>
                <a:spcPts val="2300"/>
              </a:lnSpc>
              <a:buNone/>
            </a:pPr>
            <a:r>
              <a:rPr lang="en-US" sz="1920" dirty="0">
                <a:solidFill>
                  <a:srgbClr val="242424"/>
                </a:solidFill>
                <a:latin typeface="思源黑体-思源黑体-Medium" pitchFamily="34" charset="0"/>
                <a:ea typeface="思源黑体-思源黑体-Medium" pitchFamily="34" charset="-122"/>
                <a:cs typeface="思源黑体-思源黑体-Medium" pitchFamily="34" charset="-120"/>
              </a:rPr>
              <a:t>3</a:t>
            </a:r>
            <a:endParaRPr lang="en-US" sz="1920" dirty="0"/>
          </a:p>
        </p:txBody>
      </p:sp>
      <p:sp>
        <p:nvSpPr>
          <p:cNvPr id="12" name="Text 6"/>
          <p:cNvSpPr/>
          <p:nvPr/>
        </p:nvSpPr>
        <p:spPr>
          <a:xfrm>
            <a:off x="9930384" y="2779776"/>
            <a:ext cx="3922776" cy="329184"/>
          </a:xfrm>
          <a:prstGeom prst="rect">
            <a:avLst/>
          </a:prstGeom>
          <a:noFill/>
          <a:ln/>
        </p:spPr>
        <p:txBody>
          <a:bodyPr wrap="none" lIns="0" tIns="0" rIns="0" bIns="0" rtlCol="0" anchor="ctr"/>
          <a:lstStyle/>
          <a:p>
            <a:pPr marL="0" indent="0" algn="l">
              <a:lnSpc>
                <a:spcPts val="2590"/>
              </a:lnSpc>
              <a:buNone/>
            </a:pPr>
            <a:r>
              <a:rPr lang="en-US" sz="1920" dirty="0">
                <a:solidFill>
                  <a:srgbClr val="3B562E"/>
                </a:solidFill>
                <a:latin typeface="思源黑体-思源黑体-Medium" pitchFamily="34" charset="0"/>
                <a:ea typeface="思源黑体-思源黑体-Medium" pitchFamily="34" charset="-122"/>
                <a:cs typeface="思源黑体-思源黑体-Medium" pitchFamily="34" charset="-120"/>
              </a:rPr>
              <a:t>Interactive Resource Map</a:t>
            </a:r>
            <a:endParaRPr lang="en-US" sz="1920" dirty="0"/>
          </a:p>
        </p:txBody>
      </p:sp>
      <p:sp>
        <p:nvSpPr>
          <p:cNvPr id="13" name="Text 7"/>
          <p:cNvSpPr/>
          <p:nvPr/>
        </p:nvSpPr>
        <p:spPr>
          <a:xfrm>
            <a:off x="9930384" y="3328416"/>
            <a:ext cx="3922776" cy="548640"/>
          </a:xfrm>
          <a:prstGeom prst="rect">
            <a:avLst/>
          </a:prstGeom>
          <a:noFill/>
          <a:ln/>
        </p:spPr>
        <p:txBody>
          <a:bodyPr wrap="square" lIns="0" tIns="0" rIns="0" bIns="0" rtlCol="0" anchor="ctr"/>
          <a:lstStyle/>
          <a:p>
            <a:pPr marL="0" indent="0" algn="l">
              <a:lnSpc>
                <a:spcPts val="2150"/>
              </a:lnSpc>
              <a:buNone/>
            </a:pPr>
            <a:r>
              <a:rPr lang="en-US" sz="1530" dirty="0">
                <a:solidFill>
                  <a:srgbClr val="3B562E"/>
                </a:solidFill>
                <a:latin typeface="思源黑体-思源黑体-Medium" pitchFamily="34" charset="0"/>
                <a:ea typeface="思源黑体-思源黑体-Medium" pitchFamily="34" charset="-122"/>
                <a:cs typeface="思源黑体-思源黑体-Medium" pitchFamily="34" charset="-120"/>
              </a:rPr>
              <a:t>Visual layout guiding students to various resources around campus.</a:t>
            </a:r>
            <a:endParaRPr lang="en-US" sz="1530" dirty="0"/>
          </a:p>
        </p:txBody>
      </p:sp>
      <p:sp>
        <p:nvSpPr>
          <p:cNvPr id="14" name="Text 8"/>
          <p:cNvSpPr/>
          <p:nvPr/>
        </p:nvSpPr>
        <p:spPr>
          <a:xfrm>
            <a:off x="9930384" y="5248656"/>
            <a:ext cx="3922776" cy="329184"/>
          </a:xfrm>
          <a:prstGeom prst="rect">
            <a:avLst/>
          </a:prstGeom>
          <a:noFill/>
          <a:ln/>
        </p:spPr>
        <p:txBody>
          <a:bodyPr wrap="none" lIns="0" tIns="0" rIns="0" bIns="0" rtlCol="0" anchor="ctr"/>
          <a:lstStyle/>
          <a:p>
            <a:pPr marL="0" indent="0" algn="l">
              <a:lnSpc>
                <a:spcPts val="2590"/>
              </a:lnSpc>
              <a:buNone/>
            </a:pPr>
            <a:r>
              <a:rPr lang="en-US" sz="1920" dirty="0">
                <a:solidFill>
                  <a:srgbClr val="3B562E"/>
                </a:solidFill>
                <a:latin typeface="思源黑体-思源黑体-Medium" pitchFamily="34" charset="0"/>
                <a:ea typeface="思源黑体-思源黑体-Medium" pitchFamily="34" charset="-122"/>
                <a:cs typeface="思源黑体-思源黑体-Medium" pitchFamily="34" charset="-120"/>
              </a:rPr>
              <a:t>Personalized Dashboard</a:t>
            </a:r>
            <a:endParaRPr lang="en-US" sz="1920" dirty="0"/>
          </a:p>
        </p:txBody>
      </p:sp>
      <p:sp>
        <p:nvSpPr>
          <p:cNvPr id="15" name="Text 9"/>
          <p:cNvSpPr/>
          <p:nvPr/>
        </p:nvSpPr>
        <p:spPr>
          <a:xfrm>
            <a:off x="9930384" y="5797296"/>
            <a:ext cx="3922776" cy="548640"/>
          </a:xfrm>
          <a:prstGeom prst="rect">
            <a:avLst/>
          </a:prstGeom>
          <a:noFill/>
          <a:ln/>
        </p:spPr>
        <p:txBody>
          <a:bodyPr wrap="square" lIns="0" tIns="0" rIns="0" bIns="0" rtlCol="0" anchor="ctr"/>
          <a:lstStyle/>
          <a:p>
            <a:pPr marL="0" indent="0" algn="l">
              <a:lnSpc>
                <a:spcPts val="2150"/>
              </a:lnSpc>
              <a:buNone/>
            </a:pPr>
            <a:r>
              <a:rPr lang="en-US" sz="1530" dirty="0">
                <a:solidFill>
                  <a:srgbClr val="3B562E"/>
                </a:solidFill>
                <a:latin typeface="思源黑体-思源黑体-Medium" pitchFamily="34" charset="0"/>
                <a:ea typeface="思源黑体-思源黑体-Medium" pitchFamily="34" charset="-122"/>
                <a:cs typeface="思源黑体-思源黑体-Medium" pitchFamily="34" charset="-120"/>
              </a:rPr>
              <a:t>A customizable dashboard displaying resources tailored to user preferences.</a:t>
            </a:r>
            <a:endParaRPr lang="en-US" sz="153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795528" y="2478024"/>
            <a:ext cx="4005072" cy="2642616"/>
          </a:xfrm>
          <a:prstGeom prst="rect">
            <a:avLst/>
          </a:prstGeom>
        </p:spPr>
      </p:pic>
      <p:pic>
        <p:nvPicPr>
          <p:cNvPr id="4" name="Image 2" descr="preencoded.png"/>
          <p:cNvPicPr>
            <a:picLocks noChangeAspect="1"/>
          </p:cNvPicPr>
          <p:nvPr/>
        </p:nvPicPr>
        <p:blipFill>
          <a:blip r:embed="rId5"/>
          <a:stretch>
            <a:fillRect/>
          </a:stretch>
        </p:blipFill>
        <p:spPr>
          <a:xfrm>
            <a:off x="5321808" y="2478024"/>
            <a:ext cx="4005072" cy="2642616"/>
          </a:xfrm>
          <a:prstGeom prst="rect">
            <a:avLst/>
          </a:prstGeom>
        </p:spPr>
      </p:pic>
      <p:pic>
        <p:nvPicPr>
          <p:cNvPr id="5" name="Image 3" descr="preencoded.png"/>
          <p:cNvPicPr>
            <a:picLocks noChangeAspect="1"/>
          </p:cNvPicPr>
          <p:nvPr/>
        </p:nvPicPr>
        <p:blipFill>
          <a:blip r:embed="rId6"/>
          <a:stretch>
            <a:fillRect/>
          </a:stretch>
        </p:blipFill>
        <p:spPr>
          <a:xfrm>
            <a:off x="9838944" y="2478024"/>
            <a:ext cx="4005072" cy="2642616"/>
          </a:xfrm>
          <a:prstGeom prst="rect">
            <a:avLst/>
          </a:prstGeom>
        </p:spPr>
      </p:pic>
      <p:sp>
        <p:nvSpPr>
          <p:cNvPr id="6" name="Text 0"/>
          <p:cNvSpPr/>
          <p:nvPr/>
        </p:nvSpPr>
        <p:spPr>
          <a:xfrm>
            <a:off x="685800" y="1490472"/>
            <a:ext cx="13267944" cy="658368"/>
          </a:xfrm>
          <a:prstGeom prst="rect">
            <a:avLst/>
          </a:prstGeom>
          <a:noFill/>
          <a:ln/>
        </p:spPr>
        <p:txBody>
          <a:bodyPr wrap="none" lIns="0" tIns="0" rIns="0" bIns="0" rtlCol="0" anchor="ctr"/>
          <a:lstStyle/>
          <a:p>
            <a:pPr marL="0" indent="0" algn="l">
              <a:lnSpc>
                <a:spcPts val="5180"/>
              </a:lnSpc>
              <a:buNone/>
            </a:pPr>
            <a:r>
              <a:rPr lang="en-US" sz="3840" dirty="0">
                <a:solidFill>
                  <a:srgbClr val="54654B"/>
                </a:solidFill>
                <a:latin typeface="思源黑体-思源黑体-Medium" pitchFamily="34" charset="0"/>
                <a:ea typeface="思源黑体-思源黑体-Medium" pitchFamily="34" charset="-122"/>
                <a:cs typeface="思源黑体-思源黑体-Medium" pitchFamily="34" charset="-120"/>
              </a:rPr>
              <a:t>User Testing and Feedback</a:t>
            </a:r>
            <a:endParaRPr lang="en-US" sz="3840" dirty="0"/>
          </a:p>
        </p:txBody>
      </p:sp>
      <p:sp>
        <p:nvSpPr>
          <p:cNvPr id="7" name="Text 1"/>
          <p:cNvSpPr/>
          <p:nvPr/>
        </p:nvSpPr>
        <p:spPr>
          <a:xfrm>
            <a:off x="795528" y="5312664"/>
            <a:ext cx="4005072" cy="329184"/>
          </a:xfrm>
          <a:prstGeom prst="rect">
            <a:avLst/>
          </a:prstGeom>
          <a:noFill/>
          <a:ln/>
        </p:spPr>
        <p:txBody>
          <a:bodyPr wrap="none" lIns="0" tIns="0" rIns="0" bIns="0" rtlCol="0" anchor="ctr"/>
          <a:lstStyle/>
          <a:p>
            <a:pPr marL="0" indent="0" algn="ctr">
              <a:lnSpc>
                <a:spcPts val="2590"/>
              </a:lnSpc>
              <a:buNone/>
            </a:pPr>
            <a:r>
              <a:rPr lang="en-US" sz="1920" dirty="0">
                <a:solidFill>
                  <a:srgbClr val="3B562E"/>
                </a:solidFill>
                <a:latin typeface="思源黑体-思源黑体-Medium" pitchFamily="34" charset="0"/>
                <a:ea typeface="思源黑体-思源黑体-Medium" pitchFamily="34" charset="-122"/>
                <a:cs typeface="思源黑体-思源黑体-Medium" pitchFamily="34" charset="-120"/>
              </a:rPr>
              <a:t>Involving Student Feedback</a:t>
            </a:r>
            <a:endParaRPr lang="en-US" sz="1920" dirty="0"/>
          </a:p>
        </p:txBody>
      </p:sp>
      <p:sp>
        <p:nvSpPr>
          <p:cNvPr id="8" name="Text 2"/>
          <p:cNvSpPr/>
          <p:nvPr/>
        </p:nvSpPr>
        <p:spPr>
          <a:xfrm>
            <a:off x="795528" y="5824728"/>
            <a:ext cx="4005072" cy="822960"/>
          </a:xfrm>
          <a:prstGeom prst="rect">
            <a:avLst/>
          </a:prstGeom>
          <a:noFill/>
          <a:ln/>
        </p:spPr>
        <p:txBody>
          <a:bodyPr wrap="square" lIns="0" tIns="0" rIns="0" bIns="0" rtlCol="0" anchor="ctr"/>
          <a:lstStyle/>
          <a:p>
            <a:pPr marL="0" indent="0" algn="ctr">
              <a:lnSpc>
                <a:spcPts val="2150"/>
              </a:lnSpc>
              <a:buNone/>
            </a:pPr>
            <a:r>
              <a:rPr lang="en-US" sz="1530" dirty="0">
                <a:solidFill>
                  <a:srgbClr val="3B562E"/>
                </a:solidFill>
                <a:latin typeface="思源黑体-思源黑体-Medium" pitchFamily="34" charset="0"/>
                <a:ea typeface="思源黑体-思源黑体-Medium" pitchFamily="34" charset="-122"/>
                <a:cs typeface="思源黑体-思源黑体-Medium" pitchFamily="34" charset="-120"/>
              </a:rPr>
              <a:t>Prior to launching the new navigation system, it's essential to conduct usability testing with a diverse group of students.</a:t>
            </a:r>
            <a:endParaRPr lang="en-US" sz="1530" dirty="0"/>
          </a:p>
        </p:txBody>
      </p:sp>
      <p:sp>
        <p:nvSpPr>
          <p:cNvPr id="9" name="Text 3"/>
          <p:cNvSpPr/>
          <p:nvPr/>
        </p:nvSpPr>
        <p:spPr>
          <a:xfrm>
            <a:off x="5321808" y="5312664"/>
            <a:ext cx="4005072" cy="329184"/>
          </a:xfrm>
          <a:prstGeom prst="rect">
            <a:avLst/>
          </a:prstGeom>
          <a:noFill/>
          <a:ln/>
        </p:spPr>
        <p:txBody>
          <a:bodyPr wrap="none" lIns="0" tIns="0" rIns="0" bIns="0" rtlCol="0" anchor="ctr"/>
          <a:lstStyle/>
          <a:p>
            <a:pPr marL="0" indent="0" algn="ctr">
              <a:lnSpc>
                <a:spcPts val="2590"/>
              </a:lnSpc>
              <a:buNone/>
            </a:pPr>
            <a:r>
              <a:rPr lang="en-US" sz="1920" dirty="0">
                <a:solidFill>
                  <a:srgbClr val="3B562E"/>
                </a:solidFill>
                <a:latin typeface="思源黑体-思源黑体-Medium" pitchFamily="34" charset="0"/>
                <a:ea typeface="思源黑体-思源黑体-Medium" pitchFamily="34" charset="-122"/>
                <a:cs typeface="思源黑体-思源黑体-Medium" pitchFamily="34" charset="-120"/>
              </a:rPr>
              <a:t>A/B Testing for Optimization</a:t>
            </a:r>
            <a:endParaRPr lang="en-US" sz="1920" dirty="0"/>
          </a:p>
        </p:txBody>
      </p:sp>
      <p:sp>
        <p:nvSpPr>
          <p:cNvPr id="10" name="Text 4"/>
          <p:cNvSpPr/>
          <p:nvPr/>
        </p:nvSpPr>
        <p:spPr>
          <a:xfrm>
            <a:off x="5321808" y="5824728"/>
            <a:ext cx="4005072" cy="822960"/>
          </a:xfrm>
          <a:prstGeom prst="rect">
            <a:avLst/>
          </a:prstGeom>
          <a:noFill/>
          <a:ln/>
        </p:spPr>
        <p:txBody>
          <a:bodyPr wrap="square" lIns="0" tIns="0" rIns="0" bIns="0" rtlCol="0" anchor="ctr"/>
          <a:lstStyle/>
          <a:p>
            <a:pPr marL="0" indent="0" algn="ctr">
              <a:lnSpc>
                <a:spcPts val="2150"/>
              </a:lnSpc>
              <a:buNone/>
            </a:pPr>
            <a:r>
              <a:rPr lang="en-US" sz="1530" dirty="0">
                <a:solidFill>
                  <a:srgbClr val="3B562E"/>
                </a:solidFill>
                <a:latin typeface="思源黑体-思源黑体-Medium" pitchFamily="34" charset="0"/>
                <a:ea typeface="思源黑体-思源黑体-Medium" pitchFamily="34" charset="-122"/>
                <a:cs typeface="思源黑体-思源黑体-Medium" pitchFamily="34" charset="-120"/>
              </a:rPr>
              <a:t>Implement A/B testing to assess how different navigation models perform with live user groups.</a:t>
            </a:r>
            <a:endParaRPr lang="en-US" sz="1530" dirty="0"/>
          </a:p>
        </p:txBody>
      </p:sp>
      <p:sp>
        <p:nvSpPr>
          <p:cNvPr id="11" name="Text 5"/>
          <p:cNvSpPr/>
          <p:nvPr/>
        </p:nvSpPr>
        <p:spPr>
          <a:xfrm>
            <a:off x="9838944" y="5312664"/>
            <a:ext cx="4005072" cy="329184"/>
          </a:xfrm>
          <a:prstGeom prst="rect">
            <a:avLst/>
          </a:prstGeom>
          <a:noFill/>
          <a:ln/>
        </p:spPr>
        <p:txBody>
          <a:bodyPr wrap="none" lIns="0" tIns="0" rIns="0" bIns="0" rtlCol="0" anchor="ctr"/>
          <a:lstStyle/>
          <a:p>
            <a:pPr marL="0" indent="0" algn="ctr">
              <a:lnSpc>
                <a:spcPts val="2590"/>
              </a:lnSpc>
              <a:buNone/>
            </a:pPr>
            <a:r>
              <a:rPr lang="en-US" sz="1920" dirty="0">
                <a:solidFill>
                  <a:srgbClr val="3B562E"/>
                </a:solidFill>
                <a:latin typeface="思源黑体-思源黑体-Medium" pitchFamily="34" charset="0"/>
                <a:ea typeface="思源黑体-思源黑体-Medium" pitchFamily="34" charset="-122"/>
                <a:cs typeface="思源黑体-思源黑体-Medium" pitchFamily="34" charset="-120"/>
              </a:rPr>
              <a:t>User Training and Support</a:t>
            </a:r>
            <a:endParaRPr lang="en-US" sz="1920" dirty="0"/>
          </a:p>
        </p:txBody>
      </p:sp>
      <p:sp>
        <p:nvSpPr>
          <p:cNvPr id="12" name="Text 6"/>
          <p:cNvSpPr/>
          <p:nvPr/>
        </p:nvSpPr>
        <p:spPr>
          <a:xfrm>
            <a:off x="9838944" y="5824728"/>
            <a:ext cx="4005072" cy="822960"/>
          </a:xfrm>
          <a:prstGeom prst="rect">
            <a:avLst/>
          </a:prstGeom>
          <a:noFill/>
          <a:ln/>
        </p:spPr>
        <p:txBody>
          <a:bodyPr wrap="square" lIns="0" tIns="0" rIns="0" bIns="0" rtlCol="0" anchor="ctr"/>
          <a:lstStyle/>
          <a:p>
            <a:pPr marL="0" indent="0" algn="ctr">
              <a:lnSpc>
                <a:spcPts val="2150"/>
              </a:lnSpc>
              <a:buNone/>
            </a:pPr>
            <a:r>
              <a:rPr lang="en-US" sz="1530" dirty="0">
                <a:solidFill>
                  <a:srgbClr val="3B562E"/>
                </a:solidFill>
                <a:latin typeface="思源黑体-思源黑体-Medium" pitchFamily="34" charset="0"/>
                <a:ea typeface="思源黑体-思源黑体-Medium" pitchFamily="34" charset="-122"/>
                <a:cs typeface="思源黑体-思源黑体-Medium" pitchFamily="34" charset="-120"/>
              </a:rPr>
              <a:t>Creating user guides and offering orientation sessions can assist students in adapting to the new navigation system.</a:t>
            </a:r>
            <a:endParaRPr lang="en-US" sz="153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0" y="0"/>
            <a:ext cx="14630400" cy="2514600"/>
          </a:xfrm>
          <a:prstGeom prst="rect">
            <a:avLst/>
          </a:prstGeom>
        </p:spPr>
      </p:pic>
      <p:pic>
        <p:nvPicPr>
          <p:cNvPr id="4" name="Image 2" descr="preencoded.png"/>
          <p:cNvPicPr>
            <a:picLocks noChangeAspect="1"/>
          </p:cNvPicPr>
          <p:nvPr/>
        </p:nvPicPr>
        <p:blipFill>
          <a:blip r:embed="rId5"/>
          <a:stretch>
            <a:fillRect/>
          </a:stretch>
        </p:blipFill>
        <p:spPr>
          <a:xfrm>
            <a:off x="685800" y="4654296"/>
            <a:ext cx="4297680" cy="1911096"/>
          </a:xfrm>
          <a:prstGeom prst="rect">
            <a:avLst/>
          </a:prstGeom>
        </p:spPr>
      </p:pic>
      <p:pic>
        <p:nvPicPr>
          <p:cNvPr id="5" name="Image 3" descr="preencoded.png"/>
          <p:cNvPicPr>
            <a:picLocks noChangeAspect="1"/>
          </p:cNvPicPr>
          <p:nvPr/>
        </p:nvPicPr>
        <p:blipFill>
          <a:blip r:embed="rId5"/>
          <a:stretch>
            <a:fillRect/>
          </a:stretch>
        </p:blipFill>
        <p:spPr>
          <a:xfrm>
            <a:off x="5175504" y="4654296"/>
            <a:ext cx="4297680" cy="1911096"/>
          </a:xfrm>
          <a:prstGeom prst="rect">
            <a:avLst/>
          </a:prstGeom>
        </p:spPr>
      </p:pic>
      <p:pic>
        <p:nvPicPr>
          <p:cNvPr id="6" name="Image 4" descr="preencoded.png"/>
          <p:cNvPicPr>
            <a:picLocks noChangeAspect="1"/>
          </p:cNvPicPr>
          <p:nvPr/>
        </p:nvPicPr>
        <p:blipFill>
          <a:blip r:embed="rId5"/>
          <a:stretch>
            <a:fillRect/>
          </a:stretch>
        </p:blipFill>
        <p:spPr>
          <a:xfrm>
            <a:off x="9656064" y="4654296"/>
            <a:ext cx="4297680" cy="1911096"/>
          </a:xfrm>
          <a:prstGeom prst="rect">
            <a:avLst/>
          </a:prstGeom>
        </p:spPr>
      </p:pic>
      <p:sp>
        <p:nvSpPr>
          <p:cNvPr id="7" name="Text 0"/>
          <p:cNvSpPr/>
          <p:nvPr/>
        </p:nvSpPr>
        <p:spPr>
          <a:xfrm>
            <a:off x="685800" y="3776472"/>
            <a:ext cx="13267944" cy="658368"/>
          </a:xfrm>
          <a:prstGeom prst="rect">
            <a:avLst/>
          </a:prstGeom>
          <a:noFill/>
          <a:ln/>
        </p:spPr>
        <p:txBody>
          <a:bodyPr wrap="none" lIns="0" tIns="0" rIns="0" bIns="0" rtlCol="0" anchor="ctr"/>
          <a:lstStyle/>
          <a:p>
            <a:pPr marL="0" indent="0" algn="l">
              <a:lnSpc>
                <a:spcPts val="5180"/>
              </a:lnSpc>
              <a:buNone/>
            </a:pPr>
            <a:r>
              <a:rPr lang="en-US" sz="3840" dirty="0">
                <a:solidFill>
                  <a:srgbClr val="54654B"/>
                </a:solidFill>
                <a:latin typeface="思源黑体-思源黑体-Medium" pitchFamily="34" charset="0"/>
                <a:ea typeface="思源黑体-思源黑体-Medium" pitchFamily="34" charset="-122"/>
                <a:cs typeface="思源黑体-思源黑体-Medium" pitchFamily="34" charset="-120"/>
              </a:rPr>
              <a:t>Enhancing Overall User Experience</a:t>
            </a:r>
            <a:endParaRPr lang="en-US" sz="3840" dirty="0"/>
          </a:p>
        </p:txBody>
      </p:sp>
      <p:sp>
        <p:nvSpPr>
          <p:cNvPr id="8" name="Text 1"/>
          <p:cNvSpPr/>
          <p:nvPr/>
        </p:nvSpPr>
        <p:spPr>
          <a:xfrm>
            <a:off x="914400" y="4782312"/>
            <a:ext cx="3849624" cy="329184"/>
          </a:xfrm>
          <a:prstGeom prst="rect">
            <a:avLst/>
          </a:prstGeom>
          <a:noFill/>
          <a:ln/>
        </p:spPr>
        <p:txBody>
          <a:bodyPr wrap="none" lIns="0" tIns="0" rIns="0" bIns="0" rtlCol="0" anchor="ctr"/>
          <a:lstStyle/>
          <a:p>
            <a:pPr marL="0" indent="0" algn="l">
              <a:lnSpc>
                <a:spcPts val="2590"/>
              </a:lnSpc>
              <a:buNone/>
            </a:pPr>
            <a:r>
              <a:rPr lang="en-US" sz="1920" dirty="0">
                <a:solidFill>
                  <a:srgbClr val="3B562E"/>
                </a:solidFill>
                <a:latin typeface="思源黑体-思源黑体-Medium" pitchFamily="34" charset="0"/>
                <a:ea typeface="思源黑体-思源黑体-Medium" pitchFamily="34" charset="-122"/>
                <a:cs typeface="思源黑体-思源黑体-Medium" pitchFamily="34" charset="-120"/>
              </a:rPr>
              <a:t>Streamlined Access to Resources</a:t>
            </a:r>
            <a:endParaRPr lang="en-US" sz="1920" dirty="0"/>
          </a:p>
        </p:txBody>
      </p:sp>
      <p:sp>
        <p:nvSpPr>
          <p:cNvPr id="9" name="Text 2"/>
          <p:cNvSpPr/>
          <p:nvPr/>
        </p:nvSpPr>
        <p:spPr>
          <a:xfrm>
            <a:off x="914400" y="5285232"/>
            <a:ext cx="3849624" cy="822960"/>
          </a:xfrm>
          <a:prstGeom prst="rect">
            <a:avLst/>
          </a:prstGeom>
          <a:noFill/>
          <a:ln/>
        </p:spPr>
        <p:txBody>
          <a:bodyPr wrap="square" lIns="0" tIns="0" rIns="0" bIns="0" rtlCol="0" anchor="ctr"/>
          <a:lstStyle/>
          <a:p>
            <a:pPr marL="0" indent="0" algn="l">
              <a:lnSpc>
                <a:spcPts val="2150"/>
              </a:lnSpc>
              <a:buNone/>
            </a:pPr>
            <a:r>
              <a:rPr lang="en-US" sz="1530" dirty="0">
                <a:solidFill>
                  <a:srgbClr val="3B562E"/>
                </a:solidFill>
                <a:latin typeface="思源黑体-思源黑体-Medium" pitchFamily="34" charset="0"/>
                <a:ea typeface="思源黑体-思源黑体-Medium" pitchFamily="34" charset="-122"/>
                <a:cs typeface="思源黑体-思源黑体-Medium" pitchFamily="34" charset="-120"/>
              </a:rPr>
              <a:t>The proposed navigation system should drastically reduce the time required for students to locate academic resources.</a:t>
            </a:r>
            <a:endParaRPr lang="en-US" sz="1530" dirty="0"/>
          </a:p>
        </p:txBody>
      </p:sp>
      <p:sp>
        <p:nvSpPr>
          <p:cNvPr id="10" name="Text 3"/>
          <p:cNvSpPr/>
          <p:nvPr/>
        </p:nvSpPr>
        <p:spPr>
          <a:xfrm>
            <a:off x="5394960" y="4782312"/>
            <a:ext cx="3849624" cy="329184"/>
          </a:xfrm>
          <a:prstGeom prst="rect">
            <a:avLst/>
          </a:prstGeom>
          <a:noFill/>
          <a:ln/>
        </p:spPr>
        <p:txBody>
          <a:bodyPr wrap="none" lIns="0" tIns="0" rIns="0" bIns="0" rtlCol="0" anchor="ctr"/>
          <a:lstStyle/>
          <a:p>
            <a:pPr marL="0" indent="0" algn="l">
              <a:lnSpc>
                <a:spcPts val="2590"/>
              </a:lnSpc>
              <a:buNone/>
            </a:pPr>
            <a:r>
              <a:rPr lang="en-US" sz="1920" dirty="0">
                <a:solidFill>
                  <a:srgbClr val="3B562E"/>
                </a:solidFill>
                <a:latin typeface="思源黑体-思源黑体-Medium" pitchFamily="34" charset="0"/>
                <a:ea typeface="思源黑体-思源黑体-Medium" pitchFamily="34" charset="-122"/>
                <a:cs typeface="思源黑体-思源黑体-Medium" pitchFamily="34" charset="-120"/>
              </a:rPr>
              <a:t>Visual Consistency and Branding</a:t>
            </a:r>
            <a:endParaRPr lang="en-US" sz="1920" dirty="0"/>
          </a:p>
        </p:txBody>
      </p:sp>
      <p:sp>
        <p:nvSpPr>
          <p:cNvPr id="11" name="Text 4"/>
          <p:cNvSpPr/>
          <p:nvPr/>
        </p:nvSpPr>
        <p:spPr>
          <a:xfrm>
            <a:off x="5394960" y="5285232"/>
            <a:ext cx="3849624" cy="1097280"/>
          </a:xfrm>
          <a:prstGeom prst="rect">
            <a:avLst/>
          </a:prstGeom>
          <a:noFill/>
          <a:ln/>
        </p:spPr>
        <p:txBody>
          <a:bodyPr wrap="square" lIns="0" tIns="0" rIns="0" bIns="0" rtlCol="0" anchor="ctr"/>
          <a:lstStyle/>
          <a:p>
            <a:pPr marL="0" indent="0" algn="l">
              <a:lnSpc>
                <a:spcPts val="2150"/>
              </a:lnSpc>
              <a:buNone/>
            </a:pPr>
            <a:r>
              <a:rPr lang="en-US" sz="1530" dirty="0">
                <a:solidFill>
                  <a:srgbClr val="3B562E"/>
                </a:solidFill>
                <a:latin typeface="思源黑体-思源黑体-Medium" pitchFamily="34" charset="0"/>
                <a:ea typeface="思源黑体-思源黑体-Medium" pitchFamily="34" charset="-122"/>
                <a:cs typeface="思源黑体-思源黑体-Medium" pitchFamily="34" charset="-120"/>
              </a:rPr>
              <a:t>A cohesive visual identity enhances recognition and usability while instilling a sense of unity across the university's online presence.</a:t>
            </a:r>
            <a:endParaRPr lang="en-US" sz="1530" dirty="0"/>
          </a:p>
        </p:txBody>
      </p:sp>
      <p:sp>
        <p:nvSpPr>
          <p:cNvPr id="12" name="Text 5"/>
          <p:cNvSpPr/>
          <p:nvPr/>
        </p:nvSpPr>
        <p:spPr>
          <a:xfrm>
            <a:off x="9884664" y="4782312"/>
            <a:ext cx="3849624" cy="658368"/>
          </a:xfrm>
          <a:prstGeom prst="rect">
            <a:avLst/>
          </a:prstGeom>
          <a:noFill/>
          <a:ln/>
        </p:spPr>
        <p:txBody>
          <a:bodyPr wrap="square" lIns="0" tIns="0" rIns="0" bIns="0" rtlCol="0" anchor="ctr"/>
          <a:lstStyle/>
          <a:p>
            <a:pPr marL="0" indent="0" algn="l">
              <a:lnSpc>
                <a:spcPts val="2590"/>
              </a:lnSpc>
              <a:buNone/>
            </a:pPr>
            <a:r>
              <a:rPr lang="en-US" sz="1920" dirty="0">
                <a:solidFill>
                  <a:srgbClr val="3B562E"/>
                </a:solidFill>
                <a:latin typeface="思源黑体-思源黑体-Medium" pitchFamily="34" charset="0"/>
                <a:ea typeface="思源黑体-思源黑体-Medium" pitchFamily="34" charset="-122"/>
                <a:cs typeface="思源黑体-思源黑体-Medium" pitchFamily="34" charset="-120"/>
              </a:rPr>
              <a:t>Regular Updates and Maintenance</a:t>
            </a:r>
            <a:endParaRPr lang="en-US" sz="1920" dirty="0"/>
          </a:p>
        </p:txBody>
      </p:sp>
      <p:sp>
        <p:nvSpPr>
          <p:cNvPr id="13" name="Text 6"/>
          <p:cNvSpPr/>
          <p:nvPr/>
        </p:nvSpPr>
        <p:spPr>
          <a:xfrm>
            <a:off x="9884664" y="5614416"/>
            <a:ext cx="3849624" cy="822960"/>
          </a:xfrm>
          <a:prstGeom prst="rect">
            <a:avLst/>
          </a:prstGeom>
          <a:noFill/>
          <a:ln/>
        </p:spPr>
        <p:txBody>
          <a:bodyPr wrap="square" lIns="0" tIns="0" rIns="0" bIns="0" rtlCol="0" anchor="ctr"/>
          <a:lstStyle/>
          <a:p>
            <a:pPr marL="0" indent="0" algn="l">
              <a:lnSpc>
                <a:spcPts val="2150"/>
              </a:lnSpc>
              <a:buNone/>
            </a:pPr>
            <a:r>
              <a:rPr lang="en-US" sz="1530" dirty="0">
                <a:solidFill>
                  <a:srgbClr val="3B562E"/>
                </a:solidFill>
                <a:latin typeface="思源黑体-思源黑体-Medium" pitchFamily="34" charset="0"/>
                <a:ea typeface="思源黑体-思源黑体-Medium" pitchFamily="34" charset="-122"/>
                <a:cs typeface="思源黑体-思源黑体-Medium" pitchFamily="34" charset="-120"/>
              </a:rPr>
              <a:t>An ongoing commitment to maintaining and updating the navigation system will keep the content relevant.</a:t>
            </a:r>
            <a:endParaRPr lang="en-US" sz="153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38744"/>
          </a:xfrm>
          <a:prstGeom prst="rect">
            <a:avLst/>
          </a:prstGeom>
        </p:spPr>
      </p:pic>
      <p:pic>
        <p:nvPicPr>
          <p:cNvPr id="3" name="Image 1" descr="preencoded.png"/>
          <p:cNvPicPr>
            <a:picLocks noChangeAspect="1"/>
          </p:cNvPicPr>
          <p:nvPr/>
        </p:nvPicPr>
        <p:blipFill>
          <a:blip r:embed="rId4"/>
          <a:stretch>
            <a:fillRect/>
          </a:stretch>
        </p:blipFill>
        <p:spPr>
          <a:xfrm>
            <a:off x="5001768" y="2240280"/>
            <a:ext cx="4645152" cy="4645152"/>
          </a:xfrm>
          <a:prstGeom prst="rect">
            <a:avLst/>
          </a:prstGeom>
        </p:spPr>
      </p:pic>
      <p:pic>
        <p:nvPicPr>
          <p:cNvPr id="4" name="Image 2" descr="preencoded.png"/>
          <p:cNvPicPr>
            <a:picLocks noChangeAspect="1"/>
          </p:cNvPicPr>
          <p:nvPr/>
        </p:nvPicPr>
        <p:blipFill>
          <a:blip r:embed="rId5"/>
          <a:stretch>
            <a:fillRect/>
          </a:stretch>
        </p:blipFill>
        <p:spPr>
          <a:xfrm>
            <a:off x="5001768" y="2240280"/>
            <a:ext cx="4645152" cy="4645152"/>
          </a:xfrm>
          <a:prstGeom prst="rect">
            <a:avLst/>
          </a:prstGeom>
        </p:spPr>
      </p:pic>
      <p:pic>
        <p:nvPicPr>
          <p:cNvPr id="5" name="Image 3" descr="preencoded.png"/>
          <p:cNvPicPr>
            <a:picLocks noChangeAspect="1"/>
          </p:cNvPicPr>
          <p:nvPr/>
        </p:nvPicPr>
        <p:blipFill>
          <a:blip r:embed="rId6"/>
          <a:stretch>
            <a:fillRect/>
          </a:stretch>
        </p:blipFill>
        <p:spPr>
          <a:xfrm>
            <a:off x="5001768" y="2240280"/>
            <a:ext cx="4645152" cy="4645152"/>
          </a:xfrm>
          <a:prstGeom prst="rect">
            <a:avLst/>
          </a:prstGeom>
        </p:spPr>
      </p:pic>
      <p:pic>
        <p:nvPicPr>
          <p:cNvPr id="6" name="Image 4" descr="preencoded.png"/>
          <p:cNvPicPr>
            <a:picLocks noChangeAspect="1"/>
          </p:cNvPicPr>
          <p:nvPr/>
        </p:nvPicPr>
        <p:blipFill>
          <a:blip r:embed="rId7"/>
          <a:stretch>
            <a:fillRect/>
          </a:stretch>
        </p:blipFill>
        <p:spPr>
          <a:xfrm>
            <a:off x="4599432" y="4069080"/>
            <a:ext cx="978408" cy="978408"/>
          </a:xfrm>
          <a:prstGeom prst="rect">
            <a:avLst/>
          </a:prstGeom>
        </p:spPr>
      </p:pic>
      <p:pic>
        <p:nvPicPr>
          <p:cNvPr id="7" name="Image 5" descr="preencoded.png"/>
          <p:cNvPicPr>
            <a:picLocks noChangeAspect="1"/>
          </p:cNvPicPr>
          <p:nvPr/>
        </p:nvPicPr>
        <p:blipFill>
          <a:blip r:embed="rId7"/>
          <a:stretch>
            <a:fillRect/>
          </a:stretch>
        </p:blipFill>
        <p:spPr>
          <a:xfrm>
            <a:off x="7946136" y="2139696"/>
            <a:ext cx="978408" cy="978408"/>
          </a:xfrm>
          <a:prstGeom prst="rect">
            <a:avLst/>
          </a:prstGeom>
        </p:spPr>
      </p:pic>
      <p:pic>
        <p:nvPicPr>
          <p:cNvPr id="8" name="Image 6" descr="preencoded.png"/>
          <p:cNvPicPr>
            <a:picLocks noChangeAspect="1"/>
          </p:cNvPicPr>
          <p:nvPr/>
        </p:nvPicPr>
        <p:blipFill>
          <a:blip r:embed="rId7"/>
          <a:stretch>
            <a:fillRect/>
          </a:stretch>
        </p:blipFill>
        <p:spPr>
          <a:xfrm>
            <a:off x="7946136" y="6007608"/>
            <a:ext cx="978408" cy="978408"/>
          </a:xfrm>
          <a:prstGeom prst="rect">
            <a:avLst/>
          </a:prstGeom>
        </p:spPr>
      </p:pic>
      <p:sp>
        <p:nvSpPr>
          <p:cNvPr id="9" name="Text 0"/>
          <p:cNvSpPr/>
          <p:nvPr/>
        </p:nvSpPr>
        <p:spPr>
          <a:xfrm>
            <a:off x="685800" y="1362456"/>
            <a:ext cx="13267944" cy="658368"/>
          </a:xfrm>
          <a:prstGeom prst="rect">
            <a:avLst/>
          </a:prstGeom>
          <a:noFill/>
          <a:ln/>
        </p:spPr>
        <p:txBody>
          <a:bodyPr wrap="none" lIns="0" tIns="0" rIns="0" bIns="0" rtlCol="0" anchor="ctr"/>
          <a:lstStyle/>
          <a:p>
            <a:pPr marL="0" indent="0" algn="l">
              <a:lnSpc>
                <a:spcPts val="5180"/>
              </a:lnSpc>
              <a:buNone/>
            </a:pPr>
            <a:r>
              <a:rPr lang="en-US" sz="3840" dirty="0">
                <a:solidFill>
                  <a:srgbClr val="54654B"/>
                </a:solidFill>
                <a:latin typeface="思源黑体-思源黑体-Medium" pitchFamily="34" charset="0"/>
                <a:ea typeface="思源黑体-思源黑体-Medium" pitchFamily="34" charset="-122"/>
                <a:cs typeface="思源黑体-思源黑体-Medium" pitchFamily="34" charset="-120"/>
              </a:rPr>
              <a:t>Conclusion and Future Directions</a:t>
            </a:r>
            <a:endParaRPr lang="en-US" sz="3840" dirty="0"/>
          </a:p>
        </p:txBody>
      </p:sp>
      <p:sp>
        <p:nvSpPr>
          <p:cNvPr id="10" name="Text 1"/>
          <p:cNvSpPr/>
          <p:nvPr/>
        </p:nvSpPr>
        <p:spPr>
          <a:xfrm>
            <a:off x="786384" y="3877056"/>
            <a:ext cx="3538728" cy="329184"/>
          </a:xfrm>
          <a:prstGeom prst="rect">
            <a:avLst/>
          </a:prstGeom>
          <a:noFill/>
          <a:ln/>
        </p:spPr>
        <p:txBody>
          <a:bodyPr wrap="none" lIns="0" tIns="0" rIns="0" bIns="0" rtlCol="0" anchor="ctr"/>
          <a:lstStyle/>
          <a:p>
            <a:pPr marL="0" indent="0" algn="r">
              <a:lnSpc>
                <a:spcPts val="2590"/>
              </a:lnSpc>
              <a:buNone/>
            </a:pPr>
            <a:r>
              <a:rPr lang="en-US" sz="1920" dirty="0">
                <a:solidFill>
                  <a:srgbClr val="3B562E"/>
                </a:solidFill>
                <a:latin typeface="思源黑体-思源黑体-Medium" pitchFamily="34" charset="0"/>
                <a:ea typeface="思源黑体-思源黑体-Medium" pitchFamily="34" charset="-122"/>
                <a:cs typeface="思源黑体-思源黑体-Medium" pitchFamily="34" charset="-120"/>
              </a:rPr>
              <a:t>User-Centric Design</a:t>
            </a:r>
            <a:endParaRPr lang="en-US" sz="1920" dirty="0"/>
          </a:p>
        </p:txBody>
      </p:sp>
      <p:sp>
        <p:nvSpPr>
          <p:cNvPr id="11" name="Text 2"/>
          <p:cNvSpPr/>
          <p:nvPr/>
        </p:nvSpPr>
        <p:spPr>
          <a:xfrm>
            <a:off x="786384" y="4425696"/>
            <a:ext cx="3538728" cy="822960"/>
          </a:xfrm>
          <a:prstGeom prst="rect">
            <a:avLst/>
          </a:prstGeom>
          <a:noFill/>
          <a:ln/>
        </p:spPr>
        <p:txBody>
          <a:bodyPr wrap="square" lIns="0" tIns="0" rIns="0" bIns="0" rtlCol="0" anchor="ctr"/>
          <a:lstStyle/>
          <a:p>
            <a:pPr marL="0" indent="0" algn="r">
              <a:lnSpc>
                <a:spcPts val="2150"/>
              </a:lnSpc>
              <a:buNone/>
            </a:pPr>
            <a:r>
              <a:rPr lang="en-US" sz="1530" dirty="0">
                <a:solidFill>
                  <a:srgbClr val="3B562E"/>
                </a:solidFill>
                <a:latin typeface="思源黑体-思源黑体-Medium" pitchFamily="34" charset="0"/>
                <a:ea typeface="思源黑体-思源黑体-Medium" pitchFamily="34" charset="-122"/>
                <a:cs typeface="思源黑体-思源黑体-Medium" pitchFamily="34" charset="-120"/>
              </a:rPr>
              <a:t>Focusing on user needs will guide effective navigation system development.</a:t>
            </a:r>
            <a:endParaRPr lang="en-US" sz="1530" dirty="0"/>
          </a:p>
        </p:txBody>
      </p:sp>
      <p:sp>
        <p:nvSpPr>
          <p:cNvPr id="12" name="Text 3"/>
          <p:cNvSpPr/>
          <p:nvPr/>
        </p:nvSpPr>
        <p:spPr>
          <a:xfrm>
            <a:off x="5020056" y="4379976"/>
            <a:ext cx="137160" cy="365760"/>
          </a:xfrm>
          <a:prstGeom prst="rect">
            <a:avLst/>
          </a:prstGeom>
          <a:noFill/>
          <a:ln/>
        </p:spPr>
        <p:txBody>
          <a:bodyPr wrap="none" lIns="0" tIns="0" rIns="0" bIns="0" rtlCol="0" anchor="ctr"/>
          <a:lstStyle/>
          <a:p>
            <a:pPr marL="0" indent="0" algn="l">
              <a:lnSpc>
                <a:spcPts val="2300"/>
              </a:lnSpc>
              <a:buNone/>
            </a:pPr>
            <a:r>
              <a:rPr lang="en-US" sz="1920" dirty="0">
                <a:solidFill>
                  <a:srgbClr val="242424"/>
                </a:solidFill>
                <a:latin typeface="思源黑体-思源黑体-Medium" pitchFamily="34" charset="0"/>
                <a:ea typeface="思源黑体-思源黑体-Medium" pitchFamily="34" charset="-122"/>
                <a:cs typeface="思源黑体-思源黑体-Medium" pitchFamily="34" charset="-120"/>
              </a:rPr>
              <a:t>1</a:t>
            </a:r>
            <a:endParaRPr lang="en-US" sz="1920" dirty="0"/>
          </a:p>
        </p:txBody>
      </p:sp>
      <p:sp>
        <p:nvSpPr>
          <p:cNvPr id="13" name="Text 4"/>
          <p:cNvSpPr/>
          <p:nvPr/>
        </p:nvSpPr>
        <p:spPr>
          <a:xfrm>
            <a:off x="8366760" y="2441448"/>
            <a:ext cx="137160" cy="365760"/>
          </a:xfrm>
          <a:prstGeom prst="rect">
            <a:avLst/>
          </a:prstGeom>
          <a:noFill/>
          <a:ln/>
        </p:spPr>
        <p:txBody>
          <a:bodyPr wrap="none" lIns="0" tIns="0" rIns="0" bIns="0" rtlCol="0" anchor="ctr"/>
          <a:lstStyle/>
          <a:p>
            <a:pPr marL="0" indent="0" algn="l">
              <a:lnSpc>
                <a:spcPts val="2300"/>
              </a:lnSpc>
              <a:buNone/>
            </a:pPr>
            <a:r>
              <a:rPr lang="en-US" sz="1920" dirty="0">
                <a:solidFill>
                  <a:srgbClr val="242424"/>
                </a:solidFill>
                <a:latin typeface="思源黑体-思源黑体-Medium" pitchFamily="34" charset="0"/>
                <a:ea typeface="思源黑体-思源黑体-Medium" pitchFamily="34" charset="-122"/>
                <a:cs typeface="思源黑体-思源黑体-Medium" pitchFamily="34" charset="-120"/>
              </a:rPr>
              <a:t>2</a:t>
            </a:r>
            <a:endParaRPr lang="en-US" sz="1920" dirty="0"/>
          </a:p>
        </p:txBody>
      </p:sp>
      <p:sp>
        <p:nvSpPr>
          <p:cNvPr id="14" name="Text 5"/>
          <p:cNvSpPr/>
          <p:nvPr/>
        </p:nvSpPr>
        <p:spPr>
          <a:xfrm>
            <a:off x="9930384" y="2779776"/>
            <a:ext cx="3922776" cy="329184"/>
          </a:xfrm>
          <a:prstGeom prst="rect">
            <a:avLst/>
          </a:prstGeom>
          <a:noFill/>
          <a:ln/>
        </p:spPr>
        <p:txBody>
          <a:bodyPr wrap="none" lIns="0" tIns="0" rIns="0" bIns="0" rtlCol="0" anchor="ctr"/>
          <a:lstStyle/>
          <a:p>
            <a:pPr marL="0" indent="0" algn="l">
              <a:lnSpc>
                <a:spcPts val="2590"/>
              </a:lnSpc>
              <a:buNone/>
            </a:pPr>
            <a:r>
              <a:rPr lang="en-US" sz="1920" dirty="0">
                <a:solidFill>
                  <a:srgbClr val="3B562E"/>
                </a:solidFill>
                <a:latin typeface="思源黑体-思源黑体-Medium" pitchFamily="34" charset="0"/>
                <a:ea typeface="思源黑体-思源黑体-Medium" pitchFamily="34" charset="-122"/>
                <a:cs typeface="思源黑体-思源黑体-Medium" pitchFamily="34" charset="-120"/>
              </a:rPr>
              <a:t>Continuous Improvement Strategy</a:t>
            </a:r>
            <a:endParaRPr lang="en-US" sz="1920" dirty="0"/>
          </a:p>
        </p:txBody>
      </p:sp>
      <p:sp>
        <p:nvSpPr>
          <p:cNvPr id="15" name="Text 6"/>
          <p:cNvSpPr/>
          <p:nvPr/>
        </p:nvSpPr>
        <p:spPr>
          <a:xfrm>
            <a:off x="9930384" y="3328416"/>
            <a:ext cx="3922776" cy="548640"/>
          </a:xfrm>
          <a:prstGeom prst="rect">
            <a:avLst/>
          </a:prstGeom>
          <a:noFill/>
          <a:ln/>
        </p:spPr>
        <p:txBody>
          <a:bodyPr wrap="square" lIns="0" tIns="0" rIns="0" bIns="0" rtlCol="0" anchor="ctr"/>
          <a:lstStyle/>
          <a:p>
            <a:pPr marL="0" indent="0" algn="l">
              <a:lnSpc>
                <a:spcPts val="2150"/>
              </a:lnSpc>
              <a:buNone/>
            </a:pPr>
            <a:r>
              <a:rPr lang="en-US" sz="1530" dirty="0">
                <a:solidFill>
                  <a:srgbClr val="3B562E"/>
                </a:solidFill>
                <a:latin typeface="思源黑体-思源黑体-Medium" pitchFamily="34" charset="0"/>
                <a:ea typeface="思源黑体-思源黑体-Medium" pitchFamily="34" charset="-122"/>
                <a:cs typeface="思源黑体-思源黑体-Medium" pitchFamily="34" charset="-120"/>
              </a:rPr>
              <a:t>Ongoing user feedback ensures the system adapts to changing behaviors.</a:t>
            </a:r>
            <a:endParaRPr lang="en-US" sz="1530" dirty="0"/>
          </a:p>
        </p:txBody>
      </p:sp>
      <p:sp>
        <p:nvSpPr>
          <p:cNvPr id="16" name="Text 7"/>
          <p:cNvSpPr/>
          <p:nvPr/>
        </p:nvSpPr>
        <p:spPr>
          <a:xfrm>
            <a:off x="8366760" y="6318504"/>
            <a:ext cx="137160" cy="365760"/>
          </a:xfrm>
          <a:prstGeom prst="rect">
            <a:avLst/>
          </a:prstGeom>
          <a:noFill/>
          <a:ln/>
        </p:spPr>
        <p:txBody>
          <a:bodyPr wrap="none" lIns="0" tIns="0" rIns="0" bIns="0" rtlCol="0" anchor="ctr"/>
          <a:lstStyle/>
          <a:p>
            <a:pPr marL="0" indent="0" algn="l">
              <a:lnSpc>
                <a:spcPts val="2300"/>
              </a:lnSpc>
              <a:buNone/>
            </a:pPr>
            <a:r>
              <a:rPr lang="en-US" sz="1920" dirty="0">
                <a:solidFill>
                  <a:srgbClr val="242424"/>
                </a:solidFill>
                <a:latin typeface="思源黑体-思源黑体-Medium" pitchFamily="34" charset="0"/>
                <a:ea typeface="思源黑体-思源黑体-Medium" pitchFamily="34" charset="-122"/>
                <a:cs typeface="思源黑体-思源黑体-Medium" pitchFamily="34" charset="-120"/>
              </a:rPr>
              <a:t>3</a:t>
            </a:r>
            <a:endParaRPr lang="en-US" sz="1920" dirty="0"/>
          </a:p>
        </p:txBody>
      </p:sp>
      <p:sp>
        <p:nvSpPr>
          <p:cNvPr id="17" name="Text 8"/>
          <p:cNvSpPr/>
          <p:nvPr/>
        </p:nvSpPr>
        <p:spPr>
          <a:xfrm>
            <a:off x="9930384" y="5248656"/>
            <a:ext cx="3922776" cy="329184"/>
          </a:xfrm>
          <a:prstGeom prst="rect">
            <a:avLst/>
          </a:prstGeom>
          <a:noFill/>
          <a:ln/>
        </p:spPr>
        <p:txBody>
          <a:bodyPr wrap="none" lIns="0" tIns="0" rIns="0" bIns="0" rtlCol="0" anchor="ctr"/>
          <a:lstStyle/>
          <a:p>
            <a:pPr marL="0" indent="0" algn="l">
              <a:lnSpc>
                <a:spcPts val="2590"/>
              </a:lnSpc>
              <a:buNone/>
            </a:pPr>
            <a:r>
              <a:rPr lang="en-US" sz="1920" dirty="0">
                <a:solidFill>
                  <a:srgbClr val="3B562E"/>
                </a:solidFill>
                <a:latin typeface="思源黑体-思源黑体-Medium" pitchFamily="34" charset="0"/>
                <a:ea typeface="思源黑体-思源黑体-Medium" pitchFamily="34" charset="-122"/>
                <a:cs typeface="思源黑体-思源黑体-Medium" pitchFamily="34" charset="-120"/>
              </a:rPr>
              <a:t>Collaboration Across Departments</a:t>
            </a:r>
            <a:endParaRPr lang="en-US" sz="1920" dirty="0"/>
          </a:p>
        </p:txBody>
      </p:sp>
      <p:sp>
        <p:nvSpPr>
          <p:cNvPr id="18" name="Text 9"/>
          <p:cNvSpPr/>
          <p:nvPr/>
        </p:nvSpPr>
        <p:spPr>
          <a:xfrm>
            <a:off x="9930384" y="5797296"/>
            <a:ext cx="3922776" cy="548640"/>
          </a:xfrm>
          <a:prstGeom prst="rect">
            <a:avLst/>
          </a:prstGeom>
          <a:noFill/>
          <a:ln/>
        </p:spPr>
        <p:txBody>
          <a:bodyPr wrap="square" lIns="0" tIns="0" rIns="0" bIns="0" rtlCol="0" anchor="ctr"/>
          <a:lstStyle/>
          <a:p>
            <a:pPr marL="0" indent="0" algn="l">
              <a:lnSpc>
                <a:spcPts val="2150"/>
              </a:lnSpc>
              <a:buNone/>
            </a:pPr>
            <a:r>
              <a:rPr lang="en-US" sz="1530" dirty="0">
                <a:solidFill>
                  <a:srgbClr val="3B562E"/>
                </a:solidFill>
                <a:latin typeface="思源黑体-思源黑体-Medium" pitchFamily="34" charset="0"/>
                <a:ea typeface="思源黑体-思源黑体-Medium" pitchFamily="34" charset="-122"/>
                <a:cs typeface="思源黑体-思源黑体-Medium" pitchFamily="34" charset="-120"/>
              </a:rPr>
              <a:t>Coordination between stakeholders fosters understanding of student priorities.</a:t>
            </a:r>
            <a:endParaRPr lang="en-US" sz="153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401</Words>
  <Application>Microsoft Office PowerPoint</Application>
  <PresentationFormat>Custom</PresentationFormat>
  <Paragraphs>50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思源黑体-思源黑体-Medium</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Dipanshu Singh</cp:lastModifiedBy>
  <cp:revision>1</cp:revision>
  <dcterms:created xsi:type="dcterms:W3CDTF">2025-09-30T13:44:23Z</dcterms:created>
  <dcterms:modified xsi:type="dcterms:W3CDTF">2025-09-30T13:45:43Z</dcterms:modified>
</cp:coreProperties>
</file>